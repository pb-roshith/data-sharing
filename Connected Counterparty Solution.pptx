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147483438" r:id="rId2"/>
    <p:sldId id="214748344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559D1-30D7-4265-8878-6275322E86F7}" v="1" dt="2026-08-07T06:51:03.937"/>
    <p1510:client id="{9645C25B-B2CE-448C-A575-49C1EF7630AC}" v="47" dt="2026-08-04T11:24:10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F02D25-E397-4844-96E2-FF607CBEE770}" type="doc">
      <dgm:prSet loTypeId="urn:microsoft.com/office/officeart/2005/8/layout/process4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DF745AB1-E67D-481A-BFBB-0AEC9E957B98}">
      <dgm:prSet phldrT="[Text]" custT="1"/>
      <dgm:spPr/>
      <dgm:t>
        <a:bodyPr/>
        <a:lstStyle/>
        <a:p>
          <a:r>
            <a:rPr lang="en-US" sz="14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Ingestion, quality and identity resolution </a:t>
          </a:r>
          <a:r>
            <a:rPr lang="en-US" sz="1400" b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- / APIs / streaming | entity matching | data quality | lineage | privacy controls</a:t>
          </a:r>
        </a:p>
      </dgm:t>
    </dgm:pt>
    <dgm:pt modelId="{C1149AB6-7B44-4F9B-AF9C-F9FC6A5A4CAF}" type="parTrans" cxnId="{B99BB552-9572-4220-A90F-BB5E9D5661C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7FBDB22-55FC-4DE8-BCEF-A86B6042A86B}" type="sibTrans" cxnId="{B99BB552-9572-4220-A90F-BB5E9D5661CA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7E7D7963-B9F7-4775-975B-31B3B86BC994}">
      <dgm:prSet phldrT="[Text]"/>
      <dgm:spPr/>
      <dgm:t>
        <a:bodyPr/>
        <a:lstStyle/>
        <a:p>
          <a:pPr>
            <a:buNone/>
          </a:pPr>
          <a:r>
            <a:rPr lang="en-US" b="1" i="0" u="none">
              <a:latin typeface="+mj-lt"/>
            </a:rPr>
            <a:t>Discovery and ownership intelligence</a:t>
          </a:r>
          <a:r>
            <a:rPr lang="en-US" b="0" i="0">
              <a:latin typeface="+mj-lt"/>
            </a:rPr>
            <a:t>​ - </a:t>
          </a:r>
          <a:r>
            <a:rPr lang="en-US">
              <a:latin typeface="+mj-lt"/>
            </a:rPr>
            <a:t>Direct / indirect ownership | parent-subsidiary chains | related parties | hidden link detection</a:t>
          </a:r>
          <a:endParaRPr lang="en-US" dirty="0">
            <a:latin typeface="+mj-lt"/>
          </a:endParaRPr>
        </a:p>
      </dgm:t>
    </dgm:pt>
    <dgm:pt modelId="{BD32FC1C-71FB-46AD-8C19-CB80F29D5CD9}" type="parTrans" cxnId="{78D9A554-F960-4498-BDB2-531A06EF16B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93A7BC5C-637B-479D-B12F-6C769F9B9C59}" type="sibTrans" cxnId="{78D9A554-F960-4498-BDB2-531A06EF16B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F35168C-8783-4B6F-A690-77FCC7646129}">
      <dgm:prSet phldrT="[Text]"/>
      <dgm:spPr/>
      <dgm:t>
        <a:bodyPr/>
        <a:lstStyle/>
        <a:p>
          <a:pPr>
            <a:buNone/>
          </a:pPr>
          <a:r>
            <a:rPr lang="en-US" b="1">
              <a:latin typeface="+mj-lt"/>
            </a:rPr>
            <a:t>Risk analytics and simulation engines - </a:t>
          </a:r>
          <a:r>
            <a:rPr lang="en-US">
              <a:latin typeface="+mj-lt"/>
            </a:rPr>
            <a:t>Exposure aggregation | concentration analytics | network scoring | contagion simulation | EWI</a:t>
          </a:r>
          <a:endParaRPr lang="en-US" dirty="0">
            <a:latin typeface="+mj-lt"/>
          </a:endParaRPr>
        </a:p>
      </dgm:t>
    </dgm:pt>
    <dgm:pt modelId="{BE78EB02-10C3-445B-8AE0-133BC1F1C514}" type="parTrans" cxnId="{EB4CE041-F2F2-4010-967D-C5B45CB87E4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F10E41DB-151E-402C-82BF-C6AC414A3F52}" type="sibTrans" cxnId="{EB4CE041-F2F2-4010-967D-C5B45CB87E4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A8764DE-FC8B-441B-A125-7F4ECB36C2EC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+mj-lt"/>
            </a:rPr>
            <a:t>GenAI explainability and decisioning - </a:t>
          </a:r>
          <a:r>
            <a:rPr lang="en-US" dirty="0">
              <a:latin typeface="+mj-lt"/>
            </a:rPr>
            <a:t>Risk Copilot | credit committee pack | watchlist rationale | regulatory narrative | action management</a:t>
          </a:r>
        </a:p>
      </dgm:t>
    </dgm:pt>
    <dgm:pt modelId="{35D3ECB4-6CF3-4B44-ADC2-65A9C9C0FEC5}" type="parTrans" cxnId="{57CBBBF1-4422-47D8-9896-DAA58DC9FA8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5773CE21-1FB4-441B-BF5F-512AF5AD2011}" type="sibTrans" cxnId="{57CBBBF1-4422-47D8-9896-DAA58DC9FA8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3D7450F-82DE-4F3C-966F-982CF6775FFF}">
      <dgm:prSet phldrT="[Text]"/>
      <dgm:spPr/>
      <dgm:t>
        <a:bodyPr/>
        <a:lstStyle/>
        <a:p>
          <a:pPr>
            <a:buNone/>
          </a:pPr>
          <a:r>
            <a:rPr lang="en-US" b="1" dirty="0">
              <a:latin typeface="+mj-lt"/>
            </a:rPr>
            <a:t>Enterprise relationship graph - </a:t>
          </a:r>
          <a:r>
            <a:rPr lang="en-US" dirty="0">
              <a:latin typeface="+mj-lt"/>
            </a:rPr>
            <a:t>Nodes: customers, groups, UBOs, directors, facilities, collateral, suppliers, countries, industries</a:t>
          </a:r>
        </a:p>
      </dgm:t>
    </dgm:pt>
    <dgm:pt modelId="{9AC91BB1-E621-4C57-898F-F5FA64191520}" type="parTrans" cxnId="{3C58845C-1000-41E2-87B1-F671AA9C682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99101BF-AEB2-4847-BF2C-F10C6772F62A}" type="sibTrans" cxnId="{3C58845C-1000-41E2-87B1-F671AA9C6828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493EFBA-4DAB-4263-8727-7E3F555FA4F1}" type="pres">
      <dgm:prSet presAssocID="{7EF02D25-E397-4844-96E2-FF607CBEE770}" presName="Name0" presStyleCnt="0">
        <dgm:presLayoutVars>
          <dgm:dir/>
          <dgm:animLvl val="lvl"/>
          <dgm:resizeHandles val="exact"/>
        </dgm:presLayoutVars>
      </dgm:prSet>
      <dgm:spPr/>
    </dgm:pt>
    <dgm:pt modelId="{EBD6FC4F-3AD5-4828-A570-5898489E742B}" type="pres">
      <dgm:prSet presAssocID="{2A8764DE-FC8B-441B-A125-7F4ECB36C2EC}" presName="boxAndChildren" presStyleCnt="0"/>
      <dgm:spPr/>
    </dgm:pt>
    <dgm:pt modelId="{BFB6386F-9A1F-4278-B395-11A4FACF9E0E}" type="pres">
      <dgm:prSet presAssocID="{2A8764DE-FC8B-441B-A125-7F4ECB36C2EC}" presName="parentTextBox" presStyleLbl="node1" presStyleIdx="0" presStyleCnt="5"/>
      <dgm:spPr/>
    </dgm:pt>
    <dgm:pt modelId="{9C0E57CC-6DCF-4CDE-A43F-312B487F54DC}" type="pres">
      <dgm:prSet presAssocID="{F10E41DB-151E-402C-82BF-C6AC414A3F52}" presName="sp" presStyleCnt="0"/>
      <dgm:spPr/>
    </dgm:pt>
    <dgm:pt modelId="{61720C26-19F8-47C8-9266-8D9F5E530BD4}" type="pres">
      <dgm:prSet presAssocID="{EF35168C-8783-4B6F-A690-77FCC7646129}" presName="arrowAndChildren" presStyleCnt="0"/>
      <dgm:spPr/>
    </dgm:pt>
    <dgm:pt modelId="{5CEE9083-123E-4563-8629-CB892F8F7049}" type="pres">
      <dgm:prSet presAssocID="{EF35168C-8783-4B6F-A690-77FCC7646129}" presName="parentTextArrow" presStyleLbl="node1" presStyleIdx="1" presStyleCnt="5"/>
      <dgm:spPr/>
    </dgm:pt>
    <dgm:pt modelId="{0BF25EBB-71EB-4474-B3D0-ADF44DAE7547}" type="pres">
      <dgm:prSet presAssocID="{93A7BC5C-637B-479D-B12F-6C769F9B9C59}" presName="sp" presStyleCnt="0"/>
      <dgm:spPr/>
    </dgm:pt>
    <dgm:pt modelId="{5B173F13-52A6-4C79-B747-3292ACA66148}" type="pres">
      <dgm:prSet presAssocID="{7E7D7963-B9F7-4775-975B-31B3B86BC994}" presName="arrowAndChildren" presStyleCnt="0"/>
      <dgm:spPr/>
    </dgm:pt>
    <dgm:pt modelId="{16864C13-03F7-4A4D-9010-D49741D2972C}" type="pres">
      <dgm:prSet presAssocID="{7E7D7963-B9F7-4775-975B-31B3B86BC994}" presName="parentTextArrow" presStyleLbl="node1" presStyleIdx="2" presStyleCnt="5"/>
      <dgm:spPr/>
    </dgm:pt>
    <dgm:pt modelId="{AA99E2E8-964D-4A97-9774-DEC45CBEA8F1}" type="pres">
      <dgm:prSet presAssocID="{299101BF-AEB2-4847-BF2C-F10C6772F62A}" presName="sp" presStyleCnt="0"/>
      <dgm:spPr/>
    </dgm:pt>
    <dgm:pt modelId="{BE5A55EE-F81F-49B4-9E40-FCA15A564F05}" type="pres">
      <dgm:prSet presAssocID="{23D7450F-82DE-4F3C-966F-982CF6775FFF}" presName="arrowAndChildren" presStyleCnt="0"/>
      <dgm:spPr/>
    </dgm:pt>
    <dgm:pt modelId="{96DCD92F-6C27-496C-8463-118351D31197}" type="pres">
      <dgm:prSet presAssocID="{23D7450F-82DE-4F3C-966F-982CF6775FFF}" presName="parentTextArrow" presStyleLbl="node1" presStyleIdx="3" presStyleCnt="5"/>
      <dgm:spPr/>
    </dgm:pt>
    <dgm:pt modelId="{3325C862-219F-42DF-A170-D7226F2DA8A7}" type="pres">
      <dgm:prSet presAssocID="{87FBDB22-55FC-4DE8-BCEF-A86B6042A86B}" presName="sp" presStyleCnt="0"/>
      <dgm:spPr/>
    </dgm:pt>
    <dgm:pt modelId="{B399DE5C-2585-418C-82C4-7E70AABC1AED}" type="pres">
      <dgm:prSet presAssocID="{DF745AB1-E67D-481A-BFBB-0AEC9E957B98}" presName="arrowAndChildren" presStyleCnt="0"/>
      <dgm:spPr/>
    </dgm:pt>
    <dgm:pt modelId="{F410C712-AC05-4424-B89D-A53CD165FFD3}" type="pres">
      <dgm:prSet presAssocID="{DF745AB1-E67D-481A-BFBB-0AEC9E957B98}" presName="parentTextArrow" presStyleLbl="node1" presStyleIdx="4" presStyleCnt="5"/>
      <dgm:spPr/>
    </dgm:pt>
  </dgm:ptLst>
  <dgm:cxnLst>
    <dgm:cxn modelId="{3E821316-0A28-47DA-879F-1A5CAAF1408C}" type="presOf" srcId="{2A8764DE-FC8B-441B-A125-7F4ECB36C2EC}" destId="{BFB6386F-9A1F-4278-B395-11A4FACF9E0E}" srcOrd="0" destOrd="0" presId="urn:microsoft.com/office/officeart/2005/8/layout/process4"/>
    <dgm:cxn modelId="{5CB5C921-0E01-4BCA-AC09-EF96072DDC73}" type="presOf" srcId="{DF745AB1-E67D-481A-BFBB-0AEC9E957B98}" destId="{F410C712-AC05-4424-B89D-A53CD165FFD3}" srcOrd="0" destOrd="0" presId="urn:microsoft.com/office/officeart/2005/8/layout/process4"/>
    <dgm:cxn modelId="{10E4C329-02DC-4578-A4D4-F498241F4C4F}" type="presOf" srcId="{EF35168C-8783-4B6F-A690-77FCC7646129}" destId="{5CEE9083-123E-4563-8629-CB892F8F7049}" srcOrd="0" destOrd="0" presId="urn:microsoft.com/office/officeart/2005/8/layout/process4"/>
    <dgm:cxn modelId="{3C58845C-1000-41E2-87B1-F671AA9C6828}" srcId="{7EF02D25-E397-4844-96E2-FF607CBEE770}" destId="{23D7450F-82DE-4F3C-966F-982CF6775FFF}" srcOrd="1" destOrd="0" parTransId="{9AC91BB1-E621-4C57-898F-F5FA64191520}" sibTransId="{299101BF-AEB2-4847-BF2C-F10C6772F62A}"/>
    <dgm:cxn modelId="{EB4CE041-F2F2-4010-967D-C5B45CB87E46}" srcId="{7EF02D25-E397-4844-96E2-FF607CBEE770}" destId="{EF35168C-8783-4B6F-A690-77FCC7646129}" srcOrd="3" destOrd="0" parTransId="{BE78EB02-10C3-445B-8AE0-133BC1F1C514}" sibTransId="{F10E41DB-151E-402C-82BF-C6AC414A3F52}"/>
    <dgm:cxn modelId="{8D93ED64-D76F-4566-AA2C-AB6E06690388}" type="presOf" srcId="{7EF02D25-E397-4844-96E2-FF607CBEE770}" destId="{0493EFBA-4DAB-4263-8727-7E3F555FA4F1}" srcOrd="0" destOrd="0" presId="urn:microsoft.com/office/officeart/2005/8/layout/process4"/>
    <dgm:cxn modelId="{B99BB552-9572-4220-A90F-BB5E9D5661CA}" srcId="{7EF02D25-E397-4844-96E2-FF607CBEE770}" destId="{DF745AB1-E67D-481A-BFBB-0AEC9E957B98}" srcOrd="0" destOrd="0" parTransId="{C1149AB6-7B44-4F9B-AF9C-F9FC6A5A4CAF}" sibTransId="{87FBDB22-55FC-4DE8-BCEF-A86B6042A86B}"/>
    <dgm:cxn modelId="{78D9A554-F960-4498-BDB2-531A06EF16BB}" srcId="{7EF02D25-E397-4844-96E2-FF607CBEE770}" destId="{7E7D7963-B9F7-4775-975B-31B3B86BC994}" srcOrd="2" destOrd="0" parTransId="{BD32FC1C-71FB-46AD-8C19-CB80F29D5CD9}" sibTransId="{93A7BC5C-637B-479D-B12F-6C769F9B9C59}"/>
    <dgm:cxn modelId="{4CF3B399-A52E-4B71-8891-26B3B4734010}" type="presOf" srcId="{23D7450F-82DE-4F3C-966F-982CF6775FFF}" destId="{96DCD92F-6C27-496C-8463-118351D31197}" srcOrd="0" destOrd="0" presId="urn:microsoft.com/office/officeart/2005/8/layout/process4"/>
    <dgm:cxn modelId="{5BB8B2CE-3717-4B43-AAD4-80C0E615627E}" type="presOf" srcId="{7E7D7963-B9F7-4775-975B-31B3B86BC994}" destId="{16864C13-03F7-4A4D-9010-D49741D2972C}" srcOrd="0" destOrd="0" presId="urn:microsoft.com/office/officeart/2005/8/layout/process4"/>
    <dgm:cxn modelId="{57CBBBF1-4422-47D8-9896-DAA58DC9FA80}" srcId="{7EF02D25-E397-4844-96E2-FF607CBEE770}" destId="{2A8764DE-FC8B-441B-A125-7F4ECB36C2EC}" srcOrd="4" destOrd="0" parTransId="{35D3ECB4-6CF3-4B44-ADC2-65A9C9C0FEC5}" sibTransId="{5773CE21-1FB4-441B-BF5F-512AF5AD2011}"/>
    <dgm:cxn modelId="{06BCC7E8-965A-405B-A0EF-0C27423A287C}" type="presParOf" srcId="{0493EFBA-4DAB-4263-8727-7E3F555FA4F1}" destId="{EBD6FC4F-3AD5-4828-A570-5898489E742B}" srcOrd="0" destOrd="0" presId="urn:microsoft.com/office/officeart/2005/8/layout/process4"/>
    <dgm:cxn modelId="{8A8D2794-1157-4A0B-9146-4BDACD9F735E}" type="presParOf" srcId="{EBD6FC4F-3AD5-4828-A570-5898489E742B}" destId="{BFB6386F-9A1F-4278-B395-11A4FACF9E0E}" srcOrd="0" destOrd="0" presId="urn:microsoft.com/office/officeart/2005/8/layout/process4"/>
    <dgm:cxn modelId="{03F2BF90-2F6A-4C60-90CE-E681B63C9B37}" type="presParOf" srcId="{0493EFBA-4DAB-4263-8727-7E3F555FA4F1}" destId="{9C0E57CC-6DCF-4CDE-A43F-312B487F54DC}" srcOrd="1" destOrd="0" presId="urn:microsoft.com/office/officeart/2005/8/layout/process4"/>
    <dgm:cxn modelId="{5475DACE-B879-4FDC-91AE-0BF5F16346B4}" type="presParOf" srcId="{0493EFBA-4DAB-4263-8727-7E3F555FA4F1}" destId="{61720C26-19F8-47C8-9266-8D9F5E530BD4}" srcOrd="2" destOrd="0" presId="urn:microsoft.com/office/officeart/2005/8/layout/process4"/>
    <dgm:cxn modelId="{80CD3F83-6455-4DD9-92C0-9A53FE368566}" type="presParOf" srcId="{61720C26-19F8-47C8-9266-8D9F5E530BD4}" destId="{5CEE9083-123E-4563-8629-CB892F8F7049}" srcOrd="0" destOrd="0" presId="urn:microsoft.com/office/officeart/2005/8/layout/process4"/>
    <dgm:cxn modelId="{F677C2D4-247A-429A-9474-E9CBC26CF2C5}" type="presParOf" srcId="{0493EFBA-4DAB-4263-8727-7E3F555FA4F1}" destId="{0BF25EBB-71EB-4474-B3D0-ADF44DAE7547}" srcOrd="3" destOrd="0" presId="urn:microsoft.com/office/officeart/2005/8/layout/process4"/>
    <dgm:cxn modelId="{84C35262-035E-481D-87B7-8EE4ADC22787}" type="presParOf" srcId="{0493EFBA-4DAB-4263-8727-7E3F555FA4F1}" destId="{5B173F13-52A6-4C79-B747-3292ACA66148}" srcOrd="4" destOrd="0" presId="urn:microsoft.com/office/officeart/2005/8/layout/process4"/>
    <dgm:cxn modelId="{D88D9DE2-DAFC-43DA-B2E7-A8D6F3432F7C}" type="presParOf" srcId="{5B173F13-52A6-4C79-B747-3292ACA66148}" destId="{16864C13-03F7-4A4D-9010-D49741D2972C}" srcOrd="0" destOrd="0" presId="urn:microsoft.com/office/officeart/2005/8/layout/process4"/>
    <dgm:cxn modelId="{7B8E9C5D-D5B0-4F79-9974-C8EFC06A9697}" type="presParOf" srcId="{0493EFBA-4DAB-4263-8727-7E3F555FA4F1}" destId="{AA99E2E8-964D-4A97-9774-DEC45CBEA8F1}" srcOrd="5" destOrd="0" presId="urn:microsoft.com/office/officeart/2005/8/layout/process4"/>
    <dgm:cxn modelId="{813FDDA8-977C-4822-BED1-B02668F46C21}" type="presParOf" srcId="{0493EFBA-4DAB-4263-8727-7E3F555FA4F1}" destId="{BE5A55EE-F81F-49B4-9E40-FCA15A564F05}" srcOrd="6" destOrd="0" presId="urn:microsoft.com/office/officeart/2005/8/layout/process4"/>
    <dgm:cxn modelId="{1D99FD15-1995-46F6-B6C6-6B8C6B71D01B}" type="presParOf" srcId="{BE5A55EE-F81F-49B4-9E40-FCA15A564F05}" destId="{96DCD92F-6C27-496C-8463-118351D31197}" srcOrd="0" destOrd="0" presId="urn:microsoft.com/office/officeart/2005/8/layout/process4"/>
    <dgm:cxn modelId="{677C263E-3EEA-4BBD-8830-DF95901396FE}" type="presParOf" srcId="{0493EFBA-4DAB-4263-8727-7E3F555FA4F1}" destId="{3325C862-219F-42DF-A170-D7226F2DA8A7}" srcOrd="7" destOrd="0" presId="urn:microsoft.com/office/officeart/2005/8/layout/process4"/>
    <dgm:cxn modelId="{08941F91-92E3-44E5-A68E-7BB91F13092F}" type="presParOf" srcId="{0493EFBA-4DAB-4263-8727-7E3F555FA4F1}" destId="{B399DE5C-2585-418C-82C4-7E70AABC1AED}" srcOrd="8" destOrd="0" presId="urn:microsoft.com/office/officeart/2005/8/layout/process4"/>
    <dgm:cxn modelId="{3D4BCE28-1029-4C8D-8A37-C8611BBE78CB}" type="presParOf" srcId="{B399DE5C-2585-418C-82C4-7E70AABC1AED}" destId="{F410C712-AC05-4424-B89D-A53CD165FFD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6386F-9A1F-4278-B395-11A4FACF9E0E}">
      <dsp:nvSpPr>
        <dsp:cNvPr id="0" name=""/>
        <dsp:cNvSpPr/>
      </dsp:nvSpPr>
      <dsp:spPr>
        <a:xfrm>
          <a:off x="0" y="3631617"/>
          <a:ext cx="7285809" cy="59579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GenAI explainability and decisioning - </a:t>
          </a:r>
          <a:r>
            <a:rPr lang="en-US" sz="1400" kern="1200" dirty="0">
              <a:latin typeface="+mj-lt"/>
            </a:rPr>
            <a:t>Risk Copilot | credit committee pack | watchlist rationale | regulatory narrative | action management</a:t>
          </a:r>
        </a:p>
      </dsp:txBody>
      <dsp:txXfrm>
        <a:off x="0" y="3631617"/>
        <a:ext cx="7285809" cy="595797"/>
      </dsp:txXfrm>
    </dsp:sp>
    <dsp:sp modelId="{5CEE9083-123E-4563-8629-CB892F8F7049}">
      <dsp:nvSpPr>
        <dsp:cNvPr id="0" name=""/>
        <dsp:cNvSpPr/>
      </dsp:nvSpPr>
      <dsp:spPr>
        <a:xfrm rot="10800000">
          <a:off x="0" y="2724218"/>
          <a:ext cx="7285809" cy="916335"/>
        </a:xfrm>
        <a:prstGeom prst="upArrowCallout">
          <a:avLst/>
        </a:prstGeom>
        <a:solidFill>
          <a:schemeClr val="accent1">
            <a:shade val="80000"/>
            <a:hueOff val="79453"/>
            <a:satOff val="-477"/>
            <a:lumOff val="63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+mj-lt"/>
            </a:rPr>
            <a:t>Risk analytics and simulation engines - </a:t>
          </a:r>
          <a:r>
            <a:rPr lang="en-US" sz="1400" kern="1200">
              <a:latin typeface="+mj-lt"/>
            </a:rPr>
            <a:t>Exposure aggregation | concentration analytics | network scoring | contagion simulation | EWI</a:t>
          </a:r>
          <a:endParaRPr lang="en-US" sz="1400" kern="1200" dirty="0">
            <a:latin typeface="+mj-lt"/>
          </a:endParaRPr>
        </a:p>
      </dsp:txBody>
      <dsp:txXfrm rot="10800000">
        <a:off x="0" y="2724218"/>
        <a:ext cx="7285809" cy="595407"/>
      </dsp:txXfrm>
    </dsp:sp>
    <dsp:sp modelId="{16864C13-03F7-4A4D-9010-D49741D2972C}">
      <dsp:nvSpPr>
        <dsp:cNvPr id="0" name=""/>
        <dsp:cNvSpPr/>
      </dsp:nvSpPr>
      <dsp:spPr>
        <a:xfrm rot="10800000">
          <a:off x="0" y="1816819"/>
          <a:ext cx="7285809" cy="916335"/>
        </a:xfrm>
        <a:prstGeom prst="upArrowCallout">
          <a:avLst/>
        </a:prstGeom>
        <a:solidFill>
          <a:schemeClr val="accent1">
            <a:shade val="80000"/>
            <a:hueOff val="158907"/>
            <a:satOff val="-955"/>
            <a:lumOff val="126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u="none" kern="1200">
              <a:latin typeface="+mj-lt"/>
            </a:rPr>
            <a:t>Discovery and ownership intelligence</a:t>
          </a:r>
          <a:r>
            <a:rPr lang="en-US" sz="1400" b="0" i="0" kern="1200">
              <a:latin typeface="+mj-lt"/>
            </a:rPr>
            <a:t>​ - </a:t>
          </a:r>
          <a:r>
            <a:rPr lang="en-US" sz="1400" kern="1200">
              <a:latin typeface="+mj-lt"/>
            </a:rPr>
            <a:t>Direct / indirect ownership | parent-subsidiary chains | related parties | hidden link detection</a:t>
          </a:r>
          <a:endParaRPr lang="en-US" sz="1400" kern="1200" dirty="0">
            <a:latin typeface="+mj-lt"/>
          </a:endParaRPr>
        </a:p>
      </dsp:txBody>
      <dsp:txXfrm rot="10800000">
        <a:off x="0" y="1816819"/>
        <a:ext cx="7285809" cy="595407"/>
      </dsp:txXfrm>
    </dsp:sp>
    <dsp:sp modelId="{96DCD92F-6C27-496C-8463-118351D31197}">
      <dsp:nvSpPr>
        <dsp:cNvPr id="0" name=""/>
        <dsp:cNvSpPr/>
      </dsp:nvSpPr>
      <dsp:spPr>
        <a:xfrm rot="10800000">
          <a:off x="0" y="909420"/>
          <a:ext cx="7285809" cy="916335"/>
        </a:xfrm>
        <a:prstGeom prst="upArrowCallout">
          <a:avLst/>
        </a:prstGeom>
        <a:solidFill>
          <a:schemeClr val="accent1">
            <a:shade val="80000"/>
            <a:hueOff val="238360"/>
            <a:satOff val="-1432"/>
            <a:lumOff val="189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+mj-lt"/>
            </a:rPr>
            <a:t>Enterprise relationship graph - </a:t>
          </a:r>
          <a:r>
            <a:rPr lang="en-US" sz="1400" kern="1200" dirty="0">
              <a:latin typeface="+mj-lt"/>
            </a:rPr>
            <a:t>Nodes: customers, groups, UBOs, directors, facilities, collateral, suppliers, countries, industries</a:t>
          </a:r>
        </a:p>
      </dsp:txBody>
      <dsp:txXfrm rot="10800000">
        <a:off x="0" y="909420"/>
        <a:ext cx="7285809" cy="595407"/>
      </dsp:txXfrm>
    </dsp:sp>
    <dsp:sp modelId="{F410C712-AC05-4424-B89D-A53CD165FFD3}">
      <dsp:nvSpPr>
        <dsp:cNvPr id="0" name=""/>
        <dsp:cNvSpPr/>
      </dsp:nvSpPr>
      <dsp:spPr>
        <a:xfrm rot="10800000">
          <a:off x="0" y="2021"/>
          <a:ext cx="7285809" cy="916335"/>
        </a:xfrm>
        <a:prstGeom prst="upArrowCallout">
          <a:avLst/>
        </a:prstGeom>
        <a:solidFill>
          <a:schemeClr val="accent1">
            <a:shade val="80000"/>
            <a:hueOff val="317813"/>
            <a:satOff val="-1910"/>
            <a:lumOff val="253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Ingestion, quality and identity resolution </a:t>
          </a:r>
          <a:r>
            <a:rPr lang="en-US" sz="1400" b="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- / APIs / streaming | entity matching | data quality | lineage | privacy controls</a:t>
          </a:r>
        </a:p>
      </dsp:txBody>
      <dsp:txXfrm rot="10800000">
        <a:off x="0" y="2021"/>
        <a:ext cx="7285809" cy="595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C65FE-FFE4-45CB-A827-499B458B8A05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04B02-7E27-45BC-809B-1829E8C82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5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7" y="-15604"/>
            <a:ext cx="10514927" cy="737369"/>
          </a:xfrm>
        </p:spPr>
        <p:txBody>
          <a:bodyPr anchor="ctr"/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6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7" y="143892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1218684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323" y="113577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931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933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1218744"/>
            <a:fld id="{662A0901-ACEF-4BE9-9C8C-C119B421173E}" type="slidenum">
              <a:rPr lang="en-US" smtClean="0"/>
              <a:pPr algn="ctr" defTabSz="1218744"/>
              <a:t>‹#›</a:t>
            </a:fld>
            <a:endParaRPr lang="en-US"/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6310751"/>
            <a:ext cx="1689205" cy="4033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28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defTabSz="1218744" rtl="0" eaLnBrk="1" latinLnBrk="0" hangingPunct="1">
        <a:lnSpc>
          <a:spcPct val="90000"/>
        </a:lnSpc>
        <a:spcBef>
          <a:spcPct val="0"/>
        </a:spcBef>
        <a:buNone/>
        <a:defRPr lang="en-IN" sz="2799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304685" indent="-304685" algn="l" defTabSz="1218744" rtl="0" eaLnBrk="1" latinLnBrk="0" hangingPunct="1">
        <a:lnSpc>
          <a:spcPct val="90000"/>
        </a:lnSpc>
        <a:spcBef>
          <a:spcPts val="1333"/>
        </a:spcBef>
        <a:buClr>
          <a:srgbClr val="4E84C4"/>
        </a:buClr>
        <a:buFont typeface="Arial" panose="020B0604020202020204" pitchFamily="34" charset="0"/>
        <a:buChar char="•"/>
        <a:defRPr sz="2132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17834" indent="-304685" algn="l" defTabSz="1218744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Symbol" panose="05050102010706020507" pitchFamily="18" charset="2"/>
        <a:buChar char="-"/>
        <a:defRPr sz="2132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8289" indent="-304685" algn="l" defTabSz="1218744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2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18744" indent="-304685" algn="l" defTabSz="1218744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Courier New" panose="02070309020205020404" pitchFamily="49" charset="0"/>
        <a:buChar char="o"/>
        <a:tabLst/>
        <a:defRPr sz="2132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19197" indent="-304685" algn="l" defTabSz="1218744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2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1542" indent="-304685" algn="l" defTabSz="121874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915" indent="-304685" algn="l" defTabSz="121874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287" indent="-304685" algn="l" defTabSz="121874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658" indent="-304685" algn="l" defTabSz="1218744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72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744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115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487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858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230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600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972" algn="l" defTabSz="121874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229">
          <p15:clr>
            <a:srgbClr val="F26B43"/>
          </p15:clr>
        </p15:guide>
        <p15:guide id="3" pos="7431">
          <p15:clr>
            <a:srgbClr val="F26B43"/>
          </p15:clr>
        </p15:guide>
        <p15:guide id="4" orient="horz" pos="2293">
          <p15:clr>
            <a:srgbClr val="F26B43"/>
          </p15:clr>
        </p15:guide>
        <p15:guide id="5" orient="horz" pos="3888">
          <p15:clr>
            <a:srgbClr val="F26B43"/>
          </p15:clr>
        </p15:guide>
        <p15:guide id="6" orient="horz" pos="708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1402-2854-FB7B-12FD-44C202DA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Counterparty Risk &amp; Contagion Intelligence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9CD83-C798-AA2E-8498-AC5AA53F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3019D-851B-CF71-B676-F539F7F1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</a:t>
            </a:fld>
            <a:endParaRPr lang="en-I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49D83E3-BFC4-008D-DC7A-E6B6FE0AA5C2}"/>
              </a:ext>
            </a:extLst>
          </p:cNvPr>
          <p:cNvSpPr/>
          <p:nvPr/>
        </p:nvSpPr>
        <p:spPr>
          <a:xfrm>
            <a:off x="257327" y="658936"/>
            <a:ext cx="11095592" cy="4647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91440" indent="0">
              <a:lnSpc>
                <a:spcPct val="120000"/>
              </a:lnSpc>
              <a:buNone/>
            </a:pPr>
            <a:r>
              <a:rPr lang="en-US" sz="1600" dirty="0">
                <a:latin typeface="+mj-lt"/>
                <a:ea typeface="Aptos" pitchFamily="34" charset="-122"/>
                <a:cs typeface="Aptos" pitchFamily="34" charset="-120"/>
              </a:rPr>
              <a:t>Move from single-obligor credit review to ecosystem-level risk intelligence across ownership, guarantees, collateral, supply-chain and industry networks.</a:t>
            </a:r>
            <a:endParaRPr lang="en-US" sz="1600" dirty="0">
              <a:latin typeface="+mj-lt"/>
            </a:endParaRPr>
          </a:p>
        </p:txBody>
      </p:sp>
      <p:sp>
        <p:nvSpPr>
          <p:cNvPr id="8" name="Shape 35">
            <a:extLst>
              <a:ext uri="{FF2B5EF4-FFF2-40B4-BE49-F238E27FC236}">
                <a16:creationId xmlns:a16="http://schemas.microsoft.com/office/drawing/2014/main" id="{01D1CA74-0DCC-3D32-F06B-380E29AB2A4F}"/>
              </a:ext>
            </a:extLst>
          </p:cNvPr>
          <p:cNvSpPr/>
          <p:nvPr/>
        </p:nvSpPr>
        <p:spPr>
          <a:xfrm>
            <a:off x="247324" y="1296190"/>
            <a:ext cx="1839796" cy="4687409"/>
          </a:xfrm>
          <a:prstGeom prst="roundRect">
            <a:avLst>
              <a:gd name="adj" fmla="val 14000"/>
            </a:avLst>
          </a:prstGeom>
          <a:solidFill>
            <a:srgbClr val="061426">
              <a:alpha val="8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</a:rPr>
              <a:t>Why it Matters</a:t>
            </a: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8D9EA"/>
                </a:solidFill>
              </a:rPr>
              <a:t>A portfolio that looks diversified at legal entity level may be economically concentrated through one parent group, common control, shared collateral or supply-chain dependency.</a:t>
            </a:r>
            <a:endParaRPr lang="en-US" sz="1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9C967C72-CF33-0E60-4400-AAA25BF189F0}"/>
              </a:ext>
            </a:extLst>
          </p:cNvPr>
          <p:cNvSpPr/>
          <p:nvPr/>
        </p:nvSpPr>
        <p:spPr>
          <a:xfrm>
            <a:off x="2359667" y="1337566"/>
            <a:ext cx="6312153" cy="1346963"/>
          </a:xfrm>
          <a:prstGeom prst="roundRect">
            <a:avLst>
              <a:gd name="adj" fmla="val 11538"/>
            </a:avLst>
          </a:prstGeom>
          <a:noFill/>
          <a:ln w="12700">
            <a:solidFill>
              <a:srgbClr val="EF4444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sz="1300" b="1" dirty="0"/>
              <a:t>Problem statement</a:t>
            </a:r>
          </a:p>
          <a:p>
            <a:r>
              <a:rPr lang="en-US" sz="1300" dirty="0"/>
              <a:t>• Banks often monitor risk at legal-entity or single-obligor level.</a:t>
            </a:r>
          </a:p>
          <a:p>
            <a:r>
              <a:rPr lang="en-US" sz="1300" dirty="0"/>
              <a:t>• Losses can emerge through hidden links across parents, directors, UBOs, guarantors, suppliers and collateral providers.</a:t>
            </a:r>
          </a:p>
          <a:p>
            <a:r>
              <a:rPr lang="en-US" sz="1300" dirty="0"/>
              <a:t>• This creates blind spots in concentration, related-party lending, contagion and large exposure monitoring.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D98D01A-CF04-781E-7F3F-2F68E246EB9B}"/>
              </a:ext>
            </a:extLst>
          </p:cNvPr>
          <p:cNvSpPr/>
          <p:nvPr/>
        </p:nvSpPr>
        <p:spPr>
          <a:xfrm flipH="1">
            <a:off x="2313948" y="1337566"/>
            <a:ext cx="45719" cy="1346963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A76C600-14EA-BBA6-E053-E667C8523193}"/>
              </a:ext>
            </a:extLst>
          </p:cNvPr>
          <p:cNvGrpSpPr/>
          <p:nvPr/>
        </p:nvGrpSpPr>
        <p:grpSpPr>
          <a:xfrm>
            <a:off x="2356705" y="3023918"/>
            <a:ext cx="6351729" cy="1192260"/>
            <a:chOff x="2320092" y="2828587"/>
            <a:chExt cx="6351729" cy="1192260"/>
          </a:xfrm>
        </p:grpSpPr>
        <p:sp>
          <p:nvSpPr>
            <p:cNvPr id="23" name="Shape 10">
              <a:extLst>
                <a:ext uri="{FF2B5EF4-FFF2-40B4-BE49-F238E27FC236}">
                  <a16:creationId xmlns:a16="http://schemas.microsoft.com/office/drawing/2014/main" id="{C081BBDD-3FC1-479D-9B09-2CBBAD960E12}"/>
                </a:ext>
              </a:extLst>
            </p:cNvPr>
            <p:cNvSpPr/>
            <p:nvPr/>
          </p:nvSpPr>
          <p:spPr>
            <a:xfrm>
              <a:off x="2320092" y="2828587"/>
              <a:ext cx="3233607" cy="1192260"/>
            </a:xfrm>
            <a:prstGeom prst="roundRect">
              <a:avLst>
                <a:gd name="adj" fmla="val 11429"/>
              </a:avLst>
            </a:prstGeom>
            <a:noFill/>
            <a:ln w="12700">
              <a:solidFill>
                <a:srgbClr val="F59E0B">
                  <a:alpha val="80000"/>
                </a:srgbClr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r>
                <a:rPr lang="en-US" sz="1300" dirty="0"/>
                <a:t>Business case</a:t>
              </a:r>
            </a:p>
            <a:p>
              <a:r>
                <a:rPr lang="en-US" sz="1300" dirty="0"/>
                <a:t>• Reveal true economic exposure beyond reported single-name exposure.</a:t>
              </a:r>
            </a:p>
            <a:p>
              <a:r>
                <a:rPr lang="en-US" sz="1300" dirty="0"/>
                <a:t>• Prioritize watchlist and credit review using connected risk signals.</a:t>
              </a:r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E0AC2EE9-A2C2-9481-64C7-53DBE888E682}"/>
                </a:ext>
              </a:extLst>
            </p:cNvPr>
            <p:cNvSpPr/>
            <p:nvPr/>
          </p:nvSpPr>
          <p:spPr>
            <a:xfrm>
              <a:off x="2320093" y="2916669"/>
              <a:ext cx="45719" cy="1093264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C26BE13-FC10-3329-CCD2-2FF3854C5E28}"/>
                </a:ext>
              </a:extLst>
            </p:cNvPr>
            <p:cNvGrpSpPr/>
            <p:nvPr/>
          </p:nvGrpSpPr>
          <p:grpSpPr>
            <a:xfrm>
              <a:off x="5682132" y="2856201"/>
              <a:ext cx="2989689" cy="1153732"/>
              <a:chOff x="6271817" y="2856201"/>
              <a:chExt cx="2713937" cy="960120"/>
            </a:xfrm>
          </p:grpSpPr>
          <p:sp>
            <p:nvSpPr>
              <p:cNvPr id="31" name="Shape 14">
                <a:extLst>
                  <a:ext uri="{FF2B5EF4-FFF2-40B4-BE49-F238E27FC236}">
                    <a16:creationId xmlns:a16="http://schemas.microsoft.com/office/drawing/2014/main" id="{BB63CE3E-3E9C-AC82-1622-3EACE99585D6}"/>
                  </a:ext>
                </a:extLst>
              </p:cNvPr>
              <p:cNvSpPr/>
              <p:nvPr/>
            </p:nvSpPr>
            <p:spPr>
              <a:xfrm>
                <a:off x="6271817" y="2856201"/>
                <a:ext cx="2713937" cy="960120"/>
              </a:xfrm>
              <a:prstGeom prst="roundRect">
                <a:avLst>
                  <a:gd name="adj" fmla="val 11429"/>
                </a:avLst>
              </a:prstGeom>
              <a:noFill/>
              <a:ln w="12700">
                <a:solidFill>
                  <a:srgbClr val="2DD4BF">
                    <a:alpha val="80000"/>
                  </a:srgbClr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8000"/>
                  </a:srgbClr>
                </a:outerShdw>
              </a:effectLst>
            </p:spPr>
            <p:txBody>
              <a:bodyPr/>
              <a:lstStyle/>
              <a:p>
                <a:r>
                  <a:rPr lang="en-US" sz="1300" dirty="0">
                    <a:latin typeface="+mj-lt"/>
                  </a:rPr>
                  <a:t>Value levers</a:t>
                </a:r>
              </a:p>
              <a:p>
                <a:r>
                  <a:rPr lang="en-US" sz="1300" dirty="0">
                    <a:latin typeface="+mj-lt"/>
                    <a:ea typeface="Aptos" pitchFamily="34" charset="-122"/>
                    <a:cs typeface="Aptos" pitchFamily="34" charset="-120"/>
                  </a:rPr>
                  <a:t>• Better underwriting and credit committee narratives.</a:t>
                </a:r>
                <a:endParaRPr lang="en-US" sz="1300" dirty="0">
                  <a:latin typeface="+mj-lt"/>
                </a:endParaRPr>
              </a:p>
              <a:p>
                <a:r>
                  <a:rPr lang="en-US" sz="1300" dirty="0">
                    <a:latin typeface="+mj-lt"/>
                    <a:ea typeface="Aptos" pitchFamily="34" charset="-122"/>
                    <a:cs typeface="Aptos" pitchFamily="34" charset="-120"/>
                  </a:rPr>
                  <a:t>• Near real-time concentration, group exposure and regulatory explainability.</a:t>
                </a:r>
                <a:endParaRPr lang="en-US" sz="1300" dirty="0">
                  <a:latin typeface="+mj-lt"/>
                </a:endParaRPr>
              </a:p>
            </p:txBody>
          </p:sp>
          <p:sp>
            <p:nvSpPr>
              <p:cNvPr id="33" name="Shape 15">
                <a:extLst>
                  <a:ext uri="{FF2B5EF4-FFF2-40B4-BE49-F238E27FC236}">
                    <a16:creationId xmlns:a16="http://schemas.microsoft.com/office/drawing/2014/main" id="{594C9A0F-FDA1-8824-48DC-18E259A511D2}"/>
                  </a:ext>
                </a:extLst>
              </p:cNvPr>
              <p:cNvSpPr/>
              <p:nvPr/>
            </p:nvSpPr>
            <p:spPr>
              <a:xfrm>
                <a:off x="6271818" y="2856201"/>
                <a:ext cx="45720" cy="960120"/>
              </a:xfrm>
              <a:prstGeom prst="rect">
                <a:avLst/>
              </a:prstGeom>
              <a:solidFill>
                <a:srgbClr val="2DD4BF"/>
              </a:solidFill>
              <a:ln w="12700">
                <a:solidFill>
                  <a:srgbClr val="2DD4B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 sz="1300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AB83930-5481-5BB7-2014-F30223316117}"/>
              </a:ext>
            </a:extLst>
          </p:cNvPr>
          <p:cNvGrpSpPr/>
          <p:nvPr/>
        </p:nvGrpSpPr>
        <p:grpSpPr>
          <a:xfrm>
            <a:off x="2336807" y="4536100"/>
            <a:ext cx="6399619" cy="1536498"/>
            <a:chOff x="2497891" y="4108929"/>
            <a:chExt cx="5266944" cy="1319632"/>
          </a:xfrm>
        </p:grpSpPr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2D13720A-1121-E443-23A8-7C4AE5250262}"/>
                </a:ext>
              </a:extLst>
            </p:cNvPr>
            <p:cNvSpPr/>
            <p:nvPr/>
          </p:nvSpPr>
          <p:spPr>
            <a:xfrm>
              <a:off x="2497891" y="4108929"/>
              <a:ext cx="1261872" cy="1319631"/>
            </a:xfrm>
            <a:prstGeom prst="roundRect">
              <a:avLst>
                <a:gd name="adj" fmla="val 8696"/>
              </a:avLst>
            </a:prstGeom>
            <a:solidFill>
              <a:srgbClr val="0B355E">
                <a:alpha val="98000"/>
              </a:srgbClr>
            </a:solidFill>
            <a:ln w="12700">
              <a:solidFill>
                <a:srgbClr val="38BDF8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130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D4CF24DC-88C8-8F0E-F030-DDB777D5D58C}"/>
                </a:ext>
              </a:extLst>
            </p:cNvPr>
            <p:cNvSpPr/>
            <p:nvPr/>
          </p:nvSpPr>
          <p:spPr>
            <a:xfrm>
              <a:off x="2589331" y="4200369"/>
              <a:ext cx="3840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38BDF8"/>
                  </a:solidFill>
                </a:rPr>
                <a:t>01</a:t>
              </a:r>
              <a:endParaRPr lang="en-US" sz="1300" dirty="0"/>
            </a:p>
          </p:txBody>
        </p:sp>
        <p:sp>
          <p:nvSpPr>
            <p:cNvPr id="45" name="Text 21">
              <a:extLst>
                <a:ext uri="{FF2B5EF4-FFF2-40B4-BE49-F238E27FC236}">
                  <a16:creationId xmlns:a16="http://schemas.microsoft.com/office/drawing/2014/main" id="{D22916B3-1B97-0B8D-8522-3295FB580F91}"/>
                </a:ext>
              </a:extLst>
            </p:cNvPr>
            <p:cNvSpPr/>
            <p:nvPr/>
          </p:nvSpPr>
          <p:spPr>
            <a:xfrm>
              <a:off x="2818200" y="4150077"/>
              <a:ext cx="1097280" cy="30175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8FBFF"/>
                  </a:solidFill>
                </a:rPr>
                <a:t>Relationship Intelligence</a:t>
              </a:r>
              <a:endParaRPr lang="en-US" sz="1300" dirty="0"/>
            </a:p>
          </p:txBody>
        </p:sp>
        <p:sp>
          <p:nvSpPr>
            <p:cNvPr id="47" name="Text 22">
              <a:extLst>
                <a:ext uri="{FF2B5EF4-FFF2-40B4-BE49-F238E27FC236}">
                  <a16:creationId xmlns:a16="http://schemas.microsoft.com/office/drawing/2014/main" id="{FC9D3712-A8B3-C37E-EA08-63E6BA65AFCC}"/>
                </a:ext>
              </a:extLst>
            </p:cNvPr>
            <p:cNvSpPr/>
            <p:nvPr/>
          </p:nvSpPr>
          <p:spPr>
            <a:xfrm>
              <a:off x="2589331" y="4512994"/>
              <a:ext cx="1097280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C8D9EA"/>
                  </a:solidFill>
                </a:rPr>
                <a:t>Ownership, directors, UBOs, guarantors, collateral and supply-chain links</a:t>
              </a:r>
              <a:endParaRPr lang="en-US" sz="1300" dirty="0"/>
            </a:p>
          </p:txBody>
        </p:sp>
        <p:sp>
          <p:nvSpPr>
            <p:cNvPr id="49" name="Shape 23">
              <a:extLst>
                <a:ext uri="{FF2B5EF4-FFF2-40B4-BE49-F238E27FC236}">
                  <a16:creationId xmlns:a16="http://schemas.microsoft.com/office/drawing/2014/main" id="{849C67A6-9637-0BF4-5C0A-FC142C7649BE}"/>
                </a:ext>
              </a:extLst>
            </p:cNvPr>
            <p:cNvSpPr/>
            <p:nvPr/>
          </p:nvSpPr>
          <p:spPr>
            <a:xfrm>
              <a:off x="3832915" y="4108929"/>
              <a:ext cx="1261872" cy="1319631"/>
            </a:xfrm>
            <a:prstGeom prst="roundRect">
              <a:avLst>
                <a:gd name="adj" fmla="val 8696"/>
              </a:avLst>
            </a:prstGeom>
            <a:solidFill>
              <a:srgbClr val="0B355E">
                <a:alpha val="98000"/>
              </a:srgbClr>
            </a:solidFill>
            <a:ln w="12700">
              <a:solidFill>
                <a:srgbClr val="2DD4BF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1300"/>
            </a:p>
          </p:txBody>
        </p:sp>
        <p:sp>
          <p:nvSpPr>
            <p:cNvPr id="51" name="Text 24">
              <a:extLst>
                <a:ext uri="{FF2B5EF4-FFF2-40B4-BE49-F238E27FC236}">
                  <a16:creationId xmlns:a16="http://schemas.microsoft.com/office/drawing/2014/main" id="{FDDCB4BD-786A-B772-AB0F-EF4D3B7C51EB}"/>
                </a:ext>
              </a:extLst>
            </p:cNvPr>
            <p:cNvSpPr/>
            <p:nvPr/>
          </p:nvSpPr>
          <p:spPr>
            <a:xfrm>
              <a:off x="3924355" y="4200369"/>
              <a:ext cx="3840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DD4BF"/>
                  </a:solidFill>
                </a:rPr>
                <a:t>02</a:t>
              </a:r>
              <a:endParaRPr lang="en-US" sz="1300" dirty="0"/>
            </a:p>
          </p:txBody>
        </p:sp>
        <p:sp>
          <p:nvSpPr>
            <p:cNvPr id="53" name="Text 25">
              <a:extLst>
                <a:ext uri="{FF2B5EF4-FFF2-40B4-BE49-F238E27FC236}">
                  <a16:creationId xmlns:a16="http://schemas.microsoft.com/office/drawing/2014/main" id="{137C6B21-1D2E-7BC4-DCA1-BD3E8509D5E8}"/>
                </a:ext>
              </a:extLst>
            </p:cNvPr>
            <p:cNvSpPr/>
            <p:nvPr/>
          </p:nvSpPr>
          <p:spPr>
            <a:xfrm>
              <a:off x="4152955" y="4150077"/>
              <a:ext cx="941832" cy="30175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8FBFF"/>
                  </a:solidFill>
                </a:rPr>
                <a:t>Network Analytics</a:t>
              </a:r>
              <a:endParaRPr lang="en-US" sz="1300" dirty="0"/>
            </a:p>
          </p:txBody>
        </p:sp>
        <p:sp>
          <p:nvSpPr>
            <p:cNvPr id="55" name="Text 26">
              <a:extLst>
                <a:ext uri="{FF2B5EF4-FFF2-40B4-BE49-F238E27FC236}">
                  <a16:creationId xmlns:a16="http://schemas.microsoft.com/office/drawing/2014/main" id="{8215C377-1F4B-19BD-3BC9-1371F531DFB3}"/>
                </a:ext>
              </a:extLst>
            </p:cNvPr>
            <p:cNvSpPr/>
            <p:nvPr/>
          </p:nvSpPr>
          <p:spPr>
            <a:xfrm>
              <a:off x="3924355" y="4512994"/>
              <a:ext cx="1097280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C8D9EA"/>
                  </a:solidFill>
                </a:rPr>
                <a:t>Graph discovery, centrality, hidden concentration and contagion paths</a:t>
              </a:r>
              <a:endParaRPr lang="en-US" sz="1300" dirty="0"/>
            </a:p>
          </p:txBody>
        </p:sp>
        <p:sp>
          <p:nvSpPr>
            <p:cNvPr id="57" name="Shape 27">
              <a:extLst>
                <a:ext uri="{FF2B5EF4-FFF2-40B4-BE49-F238E27FC236}">
                  <a16:creationId xmlns:a16="http://schemas.microsoft.com/office/drawing/2014/main" id="{8F7FDEE4-79D1-D6EF-CD87-D3838BC82EF8}"/>
                </a:ext>
              </a:extLst>
            </p:cNvPr>
            <p:cNvSpPr/>
            <p:nvPr/>
          </p:nvSpPr>
          <p:spPr>
            <a:xfrm>
              <a:off x="5167939" y="4108929"/>
              <a:ext cx="1261872" cy="1319631"/>
            </a:xfrm>
            <a:prstGeom prst="roundRect">
              <a:avLst>
                <a:gd name="adj" fmla="val 8696"/>
              </a:avLst>
            </a:prstGeom>
            <a:solidFill>
              <a:srgbClr val="0B355E">
                <a:alpha val="98000"/>
              </a:srgbClr>
            </a:solidFill>
            <a:ln w="12700">
              <a:solidFill>
                <a:srgbClr val="F59E0B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1300"/>
            </a:p>
          </p:txBody>
        </p:sp>
        <p:sp>
          <p:nvSpPr>
            <p:cNvPr id="59" name="Text 28">
              <a:extLst>
                <a:ext uri="{FF2B5EF4-FFF2-40B4-BE49-F238E27FC236}">
                  <a16:creationId xmlns:a16="http://schemas.microsoft.com/office/drawing/2014/main" id="{5B979001-639A-7C7E-5796-FF71912CCDDC}"/>
                </a:ext>
              </a:extLst>
            </p:cNvPr>
            <p:cNvSpPr/>
            <p:nvPr/>
          </p:nvSpPr>
          <p:spPr>
            <a:xfrm>
              <a:off x="5259379" y="4200369"/>
              <a:ext cx="3840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59E0B"/>
                  </a:solidFill>
                </a:rPr>
                <a:t>03</a:t>
              </a:r>
              <a:endParaRPr lang="en-US" sz="1300" dirty="0"/>
            </a:p>
          </p:txBody>
        </p:sp>
        <p:sp>
          <p:nvSpPr>
            <p:cNvPr id="61" name="Text 29">
              <a:extLst>
                <a:ext uri="{FF2B5EF4-FFF2-40B4-BE49-F238E27FC236}">
                  <a16:creationId xmlns:a16="http://schemas.microsoft.com/office/drawing/2014/main" id="{4055FE64-0DCD-1C87-E5F0-2D48DBDE170B}"/>
                </a:ext>
              </a:extLst>
            </p:cNvPr>
            <p:cNvSpPr/>
            <p:nvPr/>
          </p:nvSpPr>
          <p:spPr>
            <a:xfrm>
              <a:off x="5487979" y="4150077"/>
              <a:ext cx="1097280" cy="30175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8FBFF"/>
                  </a:solidFill>
                </a:rPr>
                <a:t>Predictive Risk Monitoring</a:t>
              </a:r>
              <a:endParaRPr lang="en-US" sz="1300" dirty="0"/>
            </a:p>
          </p:txBody>
        </p:sp>
        <p:sp>
          <p:nvSpPr>
            <p:cNvPr id="63" name="Text 30">
              <a:extLst>
                <a:ext uri="{FF2B5EF4-FFF2-40B4-BE49-F238E27FC236}">
                  <a16:creationId xmlns:a16="http://schemas.microsoft.com/office/drawing/2014/main" id="{7E90220F-F53A-39D9-6449-8B7587B1034D}"/>
                </a:ext>
              </a:extLst>
            </p:cNvPr>
            <p:cNvSpPr/>
            <p:nvPr/>
          </p:nvSpPr>
          <p:spPr>
            <a:xfrm>
              <a:off x="5259379" y="4512994"/>
              <a:ext cx="1097280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C8D9EA"/>
                  </a:solidFill>
                </a:rPr>
                <a:t>EWI signals, parent downgrade, covenant breach, news and market events</a:t>
              </a:r>
              <a:endParaRPr lang="en-US" sz="1300" dirty="0"/>
            </a:p>
          </p:txBody>
        </p:sp>
        <p:sp>
          <p:nvSpPr>
            <p:cNvPr id="65" name="Shape 31">
              <a:extLst>
                <a:ext uri="{FF2B5EF4-FFF2-40B4-BE49-F238E27FC236}">
                  <a16:creationId xmlns:a16="http://schemas.microsoft.com/office/drawing/2014/main" id="{63C47FBC-0D07-7B5C-037A-3E89FFCEDFEF}"/>
                </a:ext>
              </a:extLst>
            </p:cNvPr>
            <p:cNvSpPr/>
            <p:nvPr/>
          </p:nvSpPr>
          <p:spPr>
            <a:xfrm>
              <a:off x="6502963" y="4108930"/>
              <a:ext cx="1261872" cy="1319631"/>
            </a:xfrm>
            <a:prstGeom prst="roundRect">
              <a:avLst>
                <a:gd name="adj" fmla="val 8696"/>
              </a:avLst>
            </a:prstGeom>
            <a:solidFill>
              <a:srgbClr val="0B355E">
                <a:alpha val="98000"/>
              </a:srgbClr>
            </a:solidFill>
            <a:ln w="12700">
              <a:solidFill>
                <a:srgbClr val="1E88E5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en-US" sz="1300"/>
            </a:p>
          </p:txBody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CA2AA66C-3DA0-F751-B099-53BC074C326F}"/>
                </a:ext>
              </a:extLst>
            </p:cNvPr>
            <p:cNvSpPr/>
            <p:nvPr/>
          </p:nvSpPr>
          <p:spPr>
            <a:xfrm>
              <a:off x="6594403" y="4200369"/>
              <a:ext cx="3840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E88E5"/>
                  </a:solidFill>
                </a:rPr>
                <a:t>04</a:t>
              </a:r>
              <a:endParaRPr lang="en-US" sz="1300" dirty="0"/>
            </a:p>
          </p:txBody>
        </p:sp>
        <p:sp>
          <p:nvSpPr>
            <p:cNvPr id="69" name="Text 33">
              <a:extLst>
                <a:ext uri="{FF2B5EF4-FFF2-40B4-BE49-F238E27FC236}">
                  <a16:creationId xmlns:a16="http://schemas.microsoft.com/office/drawing/2014/main" id="{619811FC-9B5C-66E0-0E27-5468FB45318D}"/>
                </a:ext>
              </a:extLst>
            </p:cNvPr>
            <p:cNvSpPr/>
            <p:nvPr/>
          </p:nvSpPr>
          <p:spPr>
            <a:xfrm>
              <a:off x="6823003" y="4150077"/>
              <a:ext cx="868680" cy="301752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8FBFF"/>
                  </a:solidFill>
                </a:rPr>
                <a:t>GenAI Risk Copilot</a:t>
              </a:r>
              <a:endParaRPr lang="en-US" sz="1300" dirty="0"/>
            </a:p>
          </p:txBody>
        </p:sp>
        <p:sp>
          <p:nvSpPr>
            <p:cNvPr id="71" name="Text 34">
              <a:extLst>
                <a:ext uri="{FF2B5EF4-FFF2-40B4-BE49-F238E27FC236}">
                  <a16:creationId xmlns:a16="http://schemas.microsoft.com/office/drawing/2014/main" id="{875895AA-77E6-810F-4678-A2CAD95B4111}"/>
                </a:ext>
              </a:extLst>
            </p:cNvPr>
            <p:cNvSpPr/>
            <p:nvPr/>
          </p:nvSpPr>
          <p:spPr>
            <a:xfrm>
              <a:off x="6594403" y="4512994"/>
              <a:ext cx="1097280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t">
              <a:no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C8D9EA"/>
                  </a:solidFill>
                </a:rPr>
                <a:t>Plain-English risk explanation, credit committee summary and next-best action</a:t>
              </a:r>
              <a:endParaRPr lang="en-US" sz="1300" dirty="0"/>
            </a:p>
          </p:txBody>
        </p:sp>
      </p:grpSp>
      <p:sp>
        <p:nvSpPr>
          <p:cNvPr id="77" name="Text 45">
            <a:extLst>
              <a:ext uri="{FF2B5EF4-FFF2-40B4-BE49-F238E27FC236}">
                <a16:creationId xmlns:a16="http://schemas.microsoft.com/office/drawing/2014/main" id="{2ED509DC-C183-D798-47BA-6B9CAA6747C0}"/>
              </a:ext>
            </a:extLst>
          </p:cNvPr>
          <p:cNvSpPr/>
          <p:nvPr/>
        </p:nvSpPr>
        <p:spPr>
          <a:xfrm>
            <a:off x="9090837" y="1366592"/>
            <a:ext cx="2794600" cy="264334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27" tIns="127" rIns="127" bIns="127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 b="1" dirty="0"/>
              <a:t>Example Outcomes:</a:t>
            </a:r>
          </a:p>
          <a:p>
            <a:pPr marL="137160" indent="-13716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Hidden concentration detection improvement target: 30-50%</a:t>
            </a:r>
          </a:p>
          <a:p>
            <a:pPr marL="137160" indent="-13716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Watchlist detection speed target: 50% faster</a:t>
            </a:r>
          </a:p>
          <a:p>
            <a:pPr marL="137160" indent="-13716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Credit committee preparation target: 60% reduction</a:t>
            </a:r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1506DC21-67B5-8EB6-2701-ED931EC87E56}"/>
              </a:ext>
            </a:extLst>
          </p:cNvPr>
          <p:cNvSpPr/>
          <p:nvPr/>
        </p:nvSpPr>
        <p:spPr>
          <a:xfrm flipH="1">
            <a:off x="9067977" y="1459429"/>
            <a:ext cx="45719" cy="2380235"/>
          </a:xfrm>
          <a:prstGeom prst="rect">
            <a:avLst/>
          </a:prstGeom>
          <a:solidFill>
            <a:schemeClr val="accent1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38">
            <a:extLst>
              <a:ext uri="{FF2B5EF4-FFF2-40B4-BE49-F238E27FC236}">
                <a16:creationId xmlns:a16="http://schemas.microsoft.com/office/drawing/2014/main" id="{F9109112-61C7-29E0-A8A1-CDAEAFE4390F}"/>
              </a:ext>
            </a:extLst>
          </p:cNvPr>
          <p:cNvSpPr/>
          <p:nvPr/>
        </p:nvSpPr>
        <p:spPr>
          <a:xfrm>
            <a:off x="9325467" y="4334734"/>
            <a:ext cx="2325340" cy="566579"/>
          </a:xfrm>
          <a:prstGeom prst="roundRect">
            <a:avLst>
              <a:gd name="adj" fmla="val 21429"/>
            </a:avLst>
          </a:prstGeom>
          <a:solidFill>
            <a:srgbClr val="8CB7D9">
              <a:alpha val="90000"/>
            </a:srgbClr>
          </a:solidFill>
          <a:ln w="6350">
            <a:solidFill>
              <a:srgbClr val="8CB7D9"/>
            </a:solidFill>
            <a:prstDash val="solid"/>
          </a:ln>
        </p:spPr>
        <p:txBody>
          <a:bodyPr/>
          <a:lstStyle/>
          <a:p>
            <a:r>
              <a:rPr lang="en-US" sz="1500" dirty="0">
                <a:latin typeface="+mj-lt"/>
              </a:rPr>
              <a:t>Single obligor lens | Limited dependency view</a:t>
            </a:r>
          </a:p>
        </p:txBody>
      </p:sp>
      <p:sp>
        <p:nvSpPr>
          <p:cNvPr id="86" name="Shape 40">
            <a:extLst>
              <a:ext uri="{FF2B5EF4-FFF2-40B4-BE49-F238E27FC236}">
                <a16:creationId xmlns:a16="http://schemas.microsoft.com/office/drawing/2014/main" id="{4BECE8F8-0971-BC9D-FBAC-8743C71835D8}"/>
              </a:ext>
            </a:extLst>
          </p:cNvPr>
          <p:cNvSpPr/>
          <p:nvPr/>
        </p:nvSpPr>
        <p:spPr>
          <a:xfrm>
            <a:off x="9325467" y="5062021"/>
            <a:ext cx="2325340" cy="566579"/>
          </a:xfrm>
          <a:prstGeom prst="roundRect">
            <a:avLst>
              <a:gd name="adj" fmla="val 21429"/>
            </a:avLst>
          </a:prstGeom>
          <a:solidFill>
            <a:srgbClr val="38BDF8">
              <a:alpha val="90000"/>
            </a:srgbClr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r>
              <a:rPr lang="en-US" sz="1500" dirty="0">
                <a:latin typeface="+mj-lt"/>
              </a:rPr>
              <a:t>Connected group lens | True economic exposure</a:t>
            </a:r>
          </a:p>
        </p:txBody>
      </p:sp>
      <p:sp>
        <p:nvSpPr>
          <p:cNvPr id="90" name="Shape 42">
            <a:extLst>
              <a:ext uri="{FF2B5EF4-FFF2-40B4-BE49-F238E27FC236}">
                <a16:creationId xmlns:a16="http://schemas.microsoft.com/office/drawing/2014/main" id="{13CF9104-1D38-5959-51A2-6514F4FF7D79}"/>
              </a:ext>
            </a:extLst>
          </p:cNvPr>
          <p:cNvSpPr/>
          <p:nvPr/>
        </p:nvSpPr>
        <p:spPr>
          <a:xfrm>
            <a:off x="9325467" y="5789307"/>
            <a:ext cx="2325340" cy="566579"/>
          </a:xfrm>
          <a:prstGeom prst="roundRect">
            <a:avLst>
              <a:gd name="adj" fmla="val 21429"/>
            </a:avLst>
          </a:prstGeom>
          <a:solidFill>
            <a:srgbClr val="F59E0B">
              <a:alpha val="9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sz="1500">
                <a:latin typeface="+mj-lt"/>
              </a:rPr>
              <a:t>Contagion lens | Propagation and impact</a:t>
            </a:r>
          </a:p>
        </p:txBody>
      </p:sp>
    </p:spTree>
    <p:extLst>
      <p:ext uri="{BB962C8B-B14F-4D97-AF65-F5344CB8AC3E}">
        <p14:creationId xmlns:p14="http://schemas.microsoft.com/office/powerpoint/2010/main" val="355054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F90D-5CD7-4E76-B252-C7304048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+ Analytics + GenAI operating model​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97184-F22D-54B0-B968-667C36F1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2C3-14A6-A914-1FB7-A5817E4A4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318F2-97D2-3129-28F8-23B33728B7A4}"/>
              </a:ext>
            </a:extLst>
          </p:cNvPr>
          <p:cNvSpPr txBox="1"/>
          <p:nvPr/>
        </p:nvSpPr>
        <p:spPr>
          <a:xfrm>
            <a:off x="257327" y="601590"/>
            <a:ext cx="11502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A target-state ecosystem that continuously builds the economic relationship graph, scores network risk, simulates contagion and converts insights into risk decisions.​</a:t>
            </a:r>
            <a:endParaRPr lang="en-US" sz="1600" dirty="0">
              <a:latin typeface="+mj-lt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2060592-F50F-6DA9-E166-BF2907189068}"/>
              </a:ext>
            </a:extLst>
          </p:cNvPr>
          <p:cNvSpPr/>
          <p:nvPr/>
        </p:nvSpPr>
        <p:spPr>
          <a:xfrm>
            <a:off x="257327" y="1338959"/>
            <a:ext cx="2084832" cy="4160520"/>
          </a:xfrm>
          <a:prstGeom prst="roundRect">
            <a:avLst>
              <a:gd name="adj" fmla="val 5702"/>
            </a:avLst>
          </a:prstGeom>
          <a:noFill/>
          <a:ln w="28575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Data Sources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681AE474-7FA0-F217-88F0-1EEC40EBD82E}"/>
              </a:ext>
            </a:extLst>
          </p:cNvPr>
          <p:cNvSpPr/>
          <p:nvPr/>
        </p:nvSpPr>
        <p:spPr>
          <a:xfrm>
            <a:off x="380027" y="1912169"/>
            <a:ext cx="1839432" cy="1598154"/>
          </a:xfrm>
          <a:prstGeom prst="roundRect">
            <a:avLst>
              <a:gd name="adj" fmla="val 6000"/>
            </a:avLst>
          </a:prstGeom>
          <a:solidFill>
            <a:srgbClr val="0B355E"/>
          </a:solidFill>
          <a:ln w="10160">
            <a:solidFill>
              <a:srgbClr val="2DD4BF">
                <a:alpha val="78000"/>
              </a:srgbClr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Internal bank</a:t>
            </a:r>
          </a:p>
          <a:p>
            <a:r>
              <a:rPr lang="en-US" sz="1200" dirty="0">
                <a:solidFill>
                  <a:schemeClr val="bg1"/>
                </a:solidFill>
              </a:rPr>
              <a:t>Customer / Counterparty Master</a:t>
            </a:r>
          </a:p>
          <a:p>
            <a:r>
              <a:rPr lang="en-US" sz="1200" dirty="0">
                <a:solidFill>
                  <a:schemeClr val="bg1"/>
                </a:solidFill>
              </a:rPr>
              <a:t>KYC, AML, UBO, CRM</a:t>
            </a:r>
          </a:p>
          <a:p>
            <a:r>
              <a:rPr lang="en-US" sz="1200" dirty="0">
                <a:solidFill>
                  <a:schemeClr val="bg1"/>
                </a:solidFill>
              </a:rPr>
              <a:t>Loans, limits, guarantees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Collateral, trade finance</a:t>
            </a:r>
          </a:p>
          <a:p>
            <a:r>
              <a:rPr lang="en-US" sz="1200" dirty="0">
                <a:solidFill>
                  <a:schemeClr val="bg1"/>
                </a:solidFill>
              </a:rPr>
              <a:t>Ratings, covenants, ECL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640AC2C-A945-A5BD-0CA3-685B13CF643C}"/>
              </a:ext>
            </a:extLst>
          </p:cNvPr>
          <p:cNvSpPr/>
          <p:nvPr/>
        </p:nvSpPr>
        <p:spPr>
          <a:xfrm>
            <a:off x="380027" y="3642502"/>
            <a:ext cx="1839432" cy="1598155"/>
          </a:xfrm>
          <a:prstGeom prst="roundRect">
            <a:avLst>
              <a:gd name="adj" fmla="val 6000"/>
            </a:avLst>
          </a:prstGeom>
          <a:solidFill>
            <a:srgbClr val="0A2A4A"/>
          </a:solidFill>
          <a:ln w="10160">
            <a:solidFill>
              <a:schemeClr val="accent1">
                <a:lumMod val="60000"/>
                <a:lumOff val="40000"/>
                <a:alpha val="78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External intelligence</a:t>
            </a:r>
          </a:p>
          <a:p>
            <a:r>
              <a:rPr lang="en-US" sz="1200" dirty="0">
                <a:solidFill>
                  <a:schemeClr val="bg1"/>
                </a:solidFill>
              </a:rPr>
              <a:t>Registries, LEI, Orbis / D&amp;B News, filings, court data, Market data, CDS, spreads, ESG, macro and sector indicators</a:t>
            </a:r>
          </a:p>
        </p:txBody>
      </p:sp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5AD93A30-6963-5F50-440F-9BD40C7CA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471785"/>
              </p:ext>
            </p:extLst>
          </p:nvPr>
        </p:nvGraphicFramePr>
        <p:xfrm>
          <a:off x="2490343" y="1270044"/>
          <a:ext cx="7285809" cy="4229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Shape 5">
            <a:extLst>
              <a:ext uri="{FF2B5EF4-FFF2-40B4-BE49-F238E27FC236}">
                <a16:creationId xmlns:a16="http://schemas.microsoft.com/office/drawing/2014/main" id="{FE727259-DE5E-3E42-3DA4-656A292CE83B}"/>
              </a:ext>
            </a:extLst>
          </p:cNvPr>
          <p:cNvSpPr/>
          <p:nvPr/>
        </p:nvSpPr>
        <p:spPr>
          <a:xfrm>
            <a:off x="10006951" y="1338959"/>
            <a:ext cx="2084832" cy="4160520"/>
          </a:xfrm>
          <a:prstGeom prst="roundRect">
            <a:avLst>
              <a:gd name="adj" fmla="val 5702"/>
            </a:avLst>
          </a:prstGeom>
          <a:noFill/>
          <a:ln w="28575">
            <a:solidFill>
              <a:schemeClr val="accent1">
                <a:lumMod val="60000"/>
                <a:lumOff val="40000"/>
                <a:alpha val="70000"/>
              </a:schemeClr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Downstream Consumers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Credit Underwriting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Credit Committee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Credit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Watchlist / EWI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Stress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Regulatory Reporting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D63397-CEE1-907B-E16B-D71B75C0C31D}"/>
              </a:ext>
            </a:extLst>
          </p:cNvPr>
          <p:cNvSpPr txBox="1"/>
          <p:nvPr/>
        </p:nvSpPr>
        <p:spPr>
          <a:xfrm>
            <a:off x="2959582" y="5671635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Connected exposure | hidden concentration | contagion impact | EWI alerts | committee narrative | regulatory explanation</a:t>
            </a:r>
          </a:p>
        </p:txBody>
      </p:sp>
    </p:spTree>
    <p:extLst>
      <p:ext uri="{BB962C8B-B14F-4D97-AF65-F5344CB8AC3E}">
        <p14:creationId xmlns:p14="http://schemas.microsoft.com/office/powerpoint/2010/main" val="1827007819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Widescreen" id="{70F6AED4-808E-4CE4-94C6-1C7FFC0DC655}" vid="{B1E6E07B-C6BF-452E-9F6F-40AB72B3E7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494</Words>
  <Application>Microsoft Office PowerPoint</Application>
  <PresentationFormat>Widescreen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Courier New</vt:lpstr>
      <vt:lpstr>Symbol</vt:lpstr>
      <vt:lpstr>1_Content Slide_White</vt:lpstr>
      <vt:lpstr>Connected Counterparty Risk &amp; Contagion Intelligence</vt:lpstr>
      <vt:lpstr>Graph + Analytics + GenAI operating model​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Shabbir Batterywala</dc:creator>
  <cp:lastModifiedBy>Ganesh Perumal</cp:lastModifiedBy>
  <cp:revision>2</cp:revision>
  <dcterms:created xsi:type="dcterms:W3CDTF">2026-08-04T10:15:24Z</dcterms:created>
  <dcterms:modified xsi:type="dcterms:W3CDTF">2026-08-07T06:51:03Z</dcterms:modified>
</cp:coreProperties>
</file>